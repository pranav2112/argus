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one-sentence idea. The name: Argus was the hundred-eyed watchman of Greek myth, the one who never looked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slide land before explaining. USGS recorded a magnitude 6.8 in Kyushu, Japan. Nissan's assembly plants were undamaged, but production halted because parts deliveries were delayed. Toyota also idled a plant more than 600 km from the epicenter. Nissan's own facilities were not the source of the problem: production can stop because something elsewhere in the supply chain stops. The damage stayed local; the losses traveled. The small dot is the damage; the ripples are the part that travels.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Traditional catastrophe intelligence is excellent at understanding geographic exposure: where the event hit and what insured property sits there. The harder exposure is contingent business interruption: a supplier stops, and the client stops with it, even thousands of kilometers away. ARGUS extends catastrophe thinking into economic dependency exposure, following the consequence through supplier and business dependencies. The dashed line is where the map stops. This is the Economic Blast Radius.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live application immediately; the app is the visual from here. 1) Show the Kyushu event and its physical footprint. 2) Run or show the Economic Blast Radius. 3) Open Lakeshore Drivetrain Supply and show why it becomes REVIEW NOW. 4) Show the historical dependency / memory evidence, if available. 5) Open one evidence source. 6) Show the UNKNOWN fields. 7) Show the recommended human actions. Make clear Lakeshore is a demo account in the prototype, not a named Chubb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reads: it extracts structured claims from public reporting. Code verifies: it checks that the supporting evidence exists in the source; unsupported claims are rejected. Rules decide: deterministic rules set the alert tier. ARGUS does not allow the language model to determine the alert tier. UNKNOWN stays UNKNOWN. People act: ARGUS recommends; humans decide. (If asked: the AI can still misread a source, which is exactly why its output is checked before it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 magnitude alone does not determine portfolio relevance. Taiwan's 2024 quake was the strongest there in 25 years, yet TSMC recovered most tools within about 10 hours and fully within three days. Kyushu was smaller, but key suppliers halted with no restart date. ARGUS considers the actual evidence and dependency exposure, not the headline number. Be explicit: STAND DOWN and ESCALATE are the ARGUS prototype's recommendations when run on these two events. They are not decisions Chubb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Chubb can identify indirect, supplier-driven exposure that geographic catastrophe mapping alone may not reveal. Two: every alert traces back to evidence checked against its source, and alert tiers come from fixed, visible rules. Three: missing information is shown as UNKNOWN rather than guessed; ARGUS recommends, people decide. Close on the idea: physical impact ends here; economic exposure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judges and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016000" y="1955800"/>
            <a:ext cx="4794902" cy="1295400"/>
          </a:xfrm>
          <a:prstGeom prst="rect">
            <a:avLst/>
          </a:prstGeom>
          <a:noFill/>
          <a:ln/>
        </p:spPr>
        <p:txBody>
          <a:bodyPr wrap="square" lIns="0" tIns="0" rIns="0" bIns="0" rtlCol="0" anchor="t">
            <a:normAutofit/>
          </a:bodyPr>
          <a:lstStyle/>
          <a:p>
            <a:pPr algn="l" indent="0" marL="0">
              <a:lnSpc>
                <a:spcPts val="10000"/>
              </a:lnSpc>
              <a:buNone/>
            </a:pPr>
            <a:r>
              <a:rPr lang="en-US" sz="10000" spc="300" kern="0" dirty="0">
                <a:solidFill>
                  <a:srgbClr val="2B2B2B"/>
                </a:solidFill>
                <a:latin typeface="Fraunces" pitchFamily="34" charset="0"/>
                <a:ea typeface="Fraunces" pitchFamily="34" charset="-122"/>
                <a:cs typeface="Fraunces" pitchFamily="34" charset="-120"/>
              </a:rPr>
              <a:t>ARGUS</a:t>
            </a:r>
            <a:endParaRPr lang="en-US" sz="10000" dirty="0"/>
          </a:p>
        </p:txBody>
      </p:sp>
      <p:pic>
        <p:nvPicPr>
          <p:cNvPr id="3" name="Image 0" descr="line">    </p:cNvPr>
          <p:cNvPicPr>
            <a:picLocks noChangeAspect="1"/>
          </p:cNvPicPr>
          <p:nvPr/>
        </p:nvPicPr>
        <p:blipFill>
          <a:blip r:embed="rId1"/>
          <a:srcRect l="0" r="0" t="0" b="0"/>
          <a:stretch/>
        </p:blipFill>
        <p:spPr>
          <a:xfrm>
            <a:off x="1016000" y="3581400"/>
            <a:ext cx="1016000" cy="25400"/>
          </a:xfrm>
          <a:prstGeom prst="rect">
            <a:avLst/>
          </a:prstGeom>
        </p:spPr>
      </p:pic>
      <p:sp>
        <p:nvSpPr>
          <p:cNvPr id="4" name="Text 1"/>
          <p:cNvSpPr/>
          <p:nvPr/>
        </p:nvSpPr>
        <p:spPr>
          <a:xfrm>
            <a:off x="1016000" y="3962400"/>
            <a:ext cx="7632764" cy="762000"/>
          </a:xfrm>
          <a:prstGeom prst="rect">
            <a:avLst/>
          </a:prstGeom>
          <a:noFill/>
          <a:ln/>
        </p:spPr>
        <p:txBody>
          <a:bodyPr wrap="square" lIns="0" tIns="0" rIns="0" bIns="0" rtlCol="0" anchor="t">
            <a:normAutofit/>
          </a:bodyPr>
          <a:lstStyle/>
          <a:p>
            <a:pPr algn="l" indent="0" marL="0">
              <a:lnSpc>
                <a:spcPts val="2900"/>
              </a:lnSpc>
              <a:buNone/>
            </a:pPr>
            <a:r>
              <a:rPr lang="en-US" sz="2000" dirty="0">
                <a:solidFill>
                  <a:srgbClr val="2B2B2B"/>
                </a:solidFill>
                <a:latin typeface="Inter" pitchFamily="34" charset="0"/>
                <a:ea typeface="Inter" pitchFamily="34" charset="-122"/>
                <a:cs typeface="Inter" pitchFamily="34" charset="-120"/>
              </a:rPr>
              <a:t>Traditional catastrophe tools show where an event happened. ARGUS shows where its consequences travel.</a:t>
            </a:r>
            <a:endParaRPr lang="en-US" sz="2000" dirty="0"/>
          </a:p>
        </p:txBody>
      </p:sp>
      <p:sp>
        <p:nvSpPr>
          <p:cNvPr id="5" name="Text 2"/>
          <p:cNvSpPr/>
          <p:nvPr/>
        </p:nvSpPr>
        <p:spPr>
          <a:xfrm>
            <a:off x="1016000" y="6238280"/>
            <a:ext cx="52324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A7570"/>
                </a:solidFill>
                <a:latin typeface="Inter" pitchFamily="34" charset="0"/>
                <a:ea typeface="Inter" pitchFamily="34" charset="-122"/>
                <a:cs typeface="Inter" pitchFamily="34" charset="-120"/>
              </a:rPr>
              <a:t>Stevens Business + AI Hackathon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7F2"/>
        </a:solidFill>
      </p:bgPr>
    </p:bg>
    <p:spTree>
      <p:nvGrpSpPr>
        <p:cNvPr id="1" name=""/>
        <p:cNvGrpSpPr/>
        <p:nvPr/>
      </p:nvGrpSpPr>
      <p:grpSpPr>
        <a:xfrm>
          <a:off x="0" y="0"/>
          <a:ext cx="0" cy="0"/>
          <a:chOff x="0" y="0"/>
          <a:chExt cx="0" cy="0"/>
        </a:xfrm>
      </p:grpSpPr>
      <p:pic>
        <p:nvPicPr>
          <p:cNvPr id="2" name="Image 0" descr="Ripples spreading outward from a small epicenter">    </p:cNvPr>
          <p:cNvPicPr>
            <a:picLocks noChangeAspect="1"/>
          </p:cNvPicPr>
          <p:nvPr/>
        </p:nvPicPr>
        <p:blipFill>
          <a:blip r:embed="rId1"/>
          <a:srcRect l="0" r="0" t="0" b="0"/>
          <a:stretch/>
        </p:blipFill>
        <p:spPr>
          <a:xfrm>
            <a:off x="7493000" y="1905000"/>
            <a:ext cx="4699000" cy="4953000"/>
          </a:xfrm>
          <a:prstGeom prst="rect">
            <a:avLst/>
          </a:prstGeom>
        </p:spPr>
      </p:pic>
      <p:sp>
        <p:nvSpPr>
          <p:cNvPr id="3" name="Text 0"/>
          <p:cNvSpPr/>
          <p:nvPr/>
        </p:nvSpPr>
        <p:spPr>
          <a:xfrm>
            <a:off x="10007600" y="5308600"/>
            <a:ext cx="13208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7570"/>
                </a:solidFill>
                <a:latin typeface="Inter" pitchFamily="34" charset="0"/>
                <a:ea typeface="Inter" pitchFamily="34" charset="-122"/>
                <a:cs typeface="Inter" pitchFamily="34" charset="-120"/>
              </a:rPr>
              <a:t>Damage</a:t>
            </a:r>
            <a:endParaRPr lang="en-US" sz="1200" dirty="0"/>
          </a:p>
        </p:txBody>
      </p:sp>
      <p:sp>
        <p:nvSpPr>
          <p:cNvPr id="4" name="Text 1"/>
          <p:cNvSpPr/>
          <p:nvPr/>
        </p:nvSpPr>
        <p:spPr>
          <a:xfrm>
            <a:off x="1016000" y="2265710"/>
            <a:ext cx="9706204" cy="726430"/>
          </a:xfrm>
          <a:prstGeom prst="rect">
            <a:avLst/>
          </a:prstGeom>
          <a:noFill/>
          <a:ln/>
        </p:spPr>
        <p:txBody>
          <a:bodyPr wrap="square" lIns="0" tIns="0" rIns="0" bIns="0" rtlCol="0" anchor="t">
            <a:normAutofit/>
          </a:bodyPr>
          <a:lstStyle/>
          <a:p>
            <a:pPr algn="l" indent="0" marL="0">
              <a:lnSpc>
                <a:spcPts val="5520"/>
              </a:lnSpc>
              <a:buNone/>
            </a:pPr>
            <a:r>
              <a:rPr lang="en-US" sz="4800" dirty="0">
                <a:solidFill>
                  <a:srgbClr val="2B2B2B"/>
                </a:solidFill>
                <a:latin typeface="Fraunces" pitchFamily="34" charset="0"/>
                <a:ea typeface="Fraunces" pitchFamily="34" charset="-122"/>
                <a:cs typeface="Fraunces" pitchFamily="34" charset="-120"/>
              </a:rPr>
              <a:t>Nissan’s plants weren’t damaged.</a:t>
            </a:r>
            <a:endParaRPr lang="en-US" sz="4800" dirty="0"/>
          </a:p>
        </p:txBody>
      </p:sp>
      <p:sp>
        <p:nvSpPr>
          <p:cNvPr id="5" name="Text 2"/>
          <p:cNvSpPr/>
          <p:nvPr/>
        </p:nvSpPr>
        <p:spPr>
          <a:xfrm>
            <a:off x="1016000" y="3068340"/>
            <a:ext cx="9706204" cy="726430"/>
          </a:xfrm>
          <a:prstGeom prst="rect">
            <a:avLst/>
          </a:prstGeom>
          <a:noFill/>
          <a:ln/>
        </p:spPr>
        <p:txBody>
          <a:bodyPr wrap="square" lIns="0" tIns="0" rIns="0" bIns="0" rtlCol="0" anchor="t">
            <a:normAutofit/>
          </a:bodyPr>
          <a:lstStyle/>
          <a:p>
            <a:pPr algn="l" indent="0" marL="0">
              <a:lnSpc>
                <a:spcPts val="5520"/>
              </a:lnSpc>
              <a:buNone/>
            </a:pPr>
            <a:r>
              <a:rPr lang="en-US" sz="4800" i="1" dirty="0">
                <a:solidFill>
                  <a:srgbClr val="2B2B2B"/>
                </a:solidFill>
                <a:latin typeface="Fraunces" pitchFamily="34" charset="0"/>
                <a:ea typeface="Fraunces" pitchFamily="34" charset="-122"/>
                <a:cs typeface="Fraunces" pitchFamily="34" charset="-120"/>
              </a:rPr>
              <a:t>Nissan stopped anyway.</a:t>
            </a:r>
            <a:endParaRPr lang="en-US" sz="4800" dirty="0"/>
          </a:p>
        </p:txBody>
      </p:sp>
      <p:sp>
        <p:nvSpPr>
          <p:cNvPr id="6" name="Text 3"/>
          <p:cNvSpPr/>
          <p:nvPr/>
        </p:nvSpPr>
        <p:spPr>
          <a:xfrm>
            <a:off x="1016000" y="4175770"/>
            <a:ext cx="274982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A7570"/>
                </a:solidFill>
                <a:latin typeface="Inter" pitchFamily="34" charset="0"/>
                <a:ea typeface="Inter" pitchFamily="34" charset="-122"/>
                <a:cs typeface="Inter" pitchFamily="34" charset="-120"/>
              </a:rPr>
              <a:t>Kyushu earthquake, July 28, 2026</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016000" y="1016000"/>
            <a:ext cx="6137084" cy="107692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2B2B2B"/>
                </a:solidFill>
                <a:latin typeface="Fraunces" pitchFamily="34" charset="0"/>
                <a:ea typeface="Fraunces" pitchFamily="34" charset="-122"/>
                <a:cs typeface="Fraunces" pitchFamily="34" charset="-120"/>
              </a:rPr>
              <a:t>Physical impact ends here.</a:t>
            </a:r>
            <a:endParaRPr lang="en-US" sz="3600" dirty="0"/>
          </a:p>
          <a:p>
            <a:pPr algn="l" indent="0" marL="0">
              <a:lnSpc>
                <a:spcPts val="4140"/>
              </a:lnSpc>
              <a:buNone/>
            </a:pPr>
            <a:r>
              <a:rPr lang="en-US" sz="3600" dirty="0">
                <a:solidFill>
                  <a:srgbClr val="2B2B2B"/>
                </a:solidFill>
                <a:latin typeface="Fraunces" pitchFamily="34" charset="0"/>
                <a:ea typeface="Fraunces" pitchFamily="34" charset="-122"/>
                <a:cs typeface="Fraunces" pitchFamily="34" charset="-120"/>
              </a:rPr>
              <a:t>Economic exposure doesn’t.</a:t>
            </a:r>
            <a:endParaRPr lang="en-US" sz="3600" dirty="0"/>
          </a:p>
        </p:txBody>
      </p:sp>
      <p:sp>
        <p:nvSpPr>
          <p:cNvPr id="3" name="Shape 1"/>
          <p:cNvSpPr/>
          <p:nvPr/>
        </p:nvSpPr>
        <p:spPr>
          <a:xfrm>
            <a:off x="1016000" y="3556000"/>
            <a:ext cx="2540000" cy="889000"/>
          </a:xfrm>
          <a:prstGeom prst="roundRect">
            <a:avLst>
              <a:gd name="adj" fmla="val 14286"/>
            </a:avLst>
          </a:prstGeom>
          <a:solidFill>
            <a:srgbClr val="E6D5B8"/>
          </a:solidFill>
          <a:ln/>
        </p:spPr>
      </p:sp>
      <p:sp>
        <p:nvSpPr>
          <p:cNvPr id="4" name="Text 2"/>
          <p:cNvSpPr/>
          <p:nvPr/>
        </p:nvSpPr>
        <p:spPr>
          <a:xfrm>
            <a:off x="1717278" y="3858270"/>
            <a:ext cx="1137444"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2B2B2B"/>
                </a:solidFill>
                <a:latin typeface="Inter" pitchFamily="34" charset="0"/>
                <a:ea typeface="Inter" pitchFamily="34" charset="-122"/>
                <a:cs typeface="Inter" pitchFamily="34" charset="-120"/>
              </a:rPr>
              <a:t>Earthquake</a:t>
            </a:r>
            <a:endParaRPr lang="en-US" sz="1600" dirty="0"/>
          </a:p>
        </p:txBody>
      </p:sp>
      <p:sp>
        <p:nvSpPr>
          <p:cNvPr id="5" name="Shape 3"/>
          <p:cNvSpPr/>
          <p:nvPr/>
        </p:nvSpPr>
        <p:spPr>
          <a:xfrm>
            <a:off x="4572000" y="3556000"/>
            <a:ext cx="2540000" cy="889000"/>
          </a:xfrm>
          <a:prstGeom prst="roundRect">
            <a:avLst>
              <a:gd name="adj" fmla="val 14286"/>
            </a:avLst>
          </a:prstGeom>
          <a:solidFill>
            <a:srgbClr val="9FB4C7"/>
          </a:solidFill>
          <a:ln/>
        </p:spPr>
      </p:sp>
      <p:sp>
        <p:nvSpPr>
          <p:cNvPr id="6" name="Text 4"/>
          <p:cNvSpPr/>
          <p:nvPr/>
        </p:nvSpPr>
        <p:spPr>
          <a:xfrm>
            <a:off x="5154513" y="3858270"/>
            <a:ext cx="1374973"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2B2B2B"/>
                </a:solidFill>
                <a:latin typeface="Inter" pitchFamily="34" charset="0"/>
                <a:ea typeface="Inter" pitchFamily="34" charset="-122"/>
                <a:cs typeface="Inter" pitchFamily="34" charset="-120"/>
              </a:rPr>
              <a:t>Supplier plant</a:t>
            </a:r>
            <a:endParaRPr lang="en-US" sz="1600" dirty="0"/>
          </a:p>
        </p:txBody>
      </p:sp>
      <p:sp>
        <p:nvSpPr>
          <p:cNvPr id="7" name="Shape 5"/>
          <p:cNvSpPr/>
          <p:nvPr/>
        </p:nvSpPr>
        <p:spPr>
          <a:xfrm>
            <a:off x="8128000" y="3556000"/>
            <a:ext cx="2540000" cy="889000"/>
          </a:xfrm>
          <a:prstGeom prst="roundRect">
            <a:avLst>
              <a:gd name="adj" fmla="val 14286"/>
            </a:avLst>
          </a:prstGeom>
          <a:solidFill>
            <a:srgbClr val="A8BFA3"/>
          </a:solidFill>
          <a:ln/>
        </p:spPr>
      </p:sp>
      <p:sp>
        <p:nvSpPr>
          <p:cNvPr id="8" name="Text 6"/>
          <p:cNvSpPr/>
          <p:nvPr/>
        </p:nvSpPr>
        <p:spPr>
          <a:xfrm>
            <a:off x="8725247" y="3858270"/>
            <a:ext cx="1345505" cy="309860"/>
          </a:xfrm>
          <a:prstGeom prst="rect">
            <a:avLst/>
          </a:prstGeom>
          <a:noFill/>
          <a:ln/>
        </p:spPr>
        <p:txBody>
          <a:bodyPr wrap="square" lIns="0" tIns="0" rIns="0" bIns="0" rtlCol="0" anchor="t">
            <a:normAutofit/>
          </a:bodyPr>
          <a:lstStyle/>
          <a:p>
            <a:pPr algn="ctr" indent="0" marL="0">
              <a:lnSpc>
                <a:spcPts val="2240"/>
              </a:lnSpc>
              <a:buNone/>
            </a:pPr>
            <a:r>
              <a:rPr lang="en-US" sz="1600" dirty="0">
                <a:solidFill>
                  <a:srgbClr val="2B2B2B"/>
                </a:solidFill>
                <a:latin typeface="Inter" pitchFamily="34" charset="0"/>
                <a:ea typeface="Inter" pitchFamily="34" charset="-122"/>
                <a:cs typeface="Inter" pitchFamily="34" charset="-120"/>
              </a:rPr>
              <a:t>Insured client</a:t>
            </a:r>
            <a:endParaRPr lang="en-US" sz="1600" dirty="0"/>
          </a:p>
        </p:txBody>
      </p:sp>
      <p:pic>
        <p:nvPicPr>
          <p:cNvPr id="9" name="Image 0" descr="connector">    </p:cNvPr>
          <p:cNvPicPr>
            <a:picLocks noChangeAspect="1"/>
          </p:cNvPicPr>
          <p:nvPr/>
        </p:nvPicPr>
        <p:blipFill>
          <a:blip r:embed="rId1"/>
          <a:srcRect l="0" r="0" t="0" b="0"/>
          <a:stretch/>
        </p:blipFill>
        <p:spPr>
          <a:xfrm>
            <a:off x="4025900" y="3136900"/>
            <a:ext cx="76200" cy="1917700"/>
          </a:xfrm>
          <a:prstGeom prst="rect">
            <a:avLst/>
          </a:prstGeom>
        </p:spPr>
      </p:pic>
      <p:pic>
        <p:nvPicPr>
          <p:cNvPr id="10" name="Image 1" descr="connector">    </p:cNvPr>
          <p:cNvPicPr>
            <a:picLocks noChangeAspect="1"/>
          </p:cNvPicPr>
          <p:nvPr/>
        </p:nvPicPr>
        <p:blipFill>
          <a:blip r:embed="rId2"/>
          <a:srcRect l="0" r="0" t="0" b="0"/>
          <a:stretch/>
        </p:blipFill>
        <p:spPr>
          <a:xfrm>
            <a:off x="3644900" y="3962400"/>
            <a:ext cx="838200" cy="76200"/>
          </a:xfrm>
          <a:prstGeom prst="rect">
            <a:avLst/>
          </a:prstGeom>
        </p:spPr>
      </p:pic>
      <p:pic>
        <p:nvPicPr>
          <p:cNvPr id="11" name="Image 2" descr="connector">    </p:cNvPr>
          <p:cNvPicPr>
            <a:picLocks noChangeAspect="1"/>
          </p:cNvPicPr>
          <p:nvPr/>
        </p:nvPicPr>
        <p:blipFill>
          <a:blip r:embed="rId3"/>
          <a:srcRect l="0" r="0" t="0" b="0"/>
          <a:stretch/>
        </p:blipFill>
        <p:spPr>
          <a:xfrm>
            <a:off x="7200900" y="3962400"/>
            <a:ext cx="838200" cy="76200"/>
          </a:xfrm>
          <a:prstGeom prst="rect">
            <a:avLst/>
          </a:prstGeom>
        </p:spPr>
      </p:pic>
      <p:sp>
        <p:nvSpPr>
          <p:cNvPr id="12" name="Text 7"/>
          <p:cNvSpPr/>
          <p:nvPr/>
        </p:nvSpPr>
        <p:spPr>
          <a:xfrm>
            <a:off x="977900" y="4648200"/>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7570"/>
                </a:solidFill>
                <a:latin typeface="Inter" pitchFamily="34" charset="0"/>
                <a:ea typeface="Inter" pitchFamily="34" charset="-122"/>
                <a:cs typeface="Inter" pitchFamily="34" charset="-120"/>
              </a:rPr>
              <a:t>What a catastrophe map shows</a:t>
            </a:r>
            <a:endParaRPr lang="en-US" sz="1200" dirty="0"/>
          </a:p>
        </p:txBody>
      </p:sp>
      <p:sp>
        <p:nvSpPr>
          <p:cNvPr id="13" name="Text 8"/>
          <p:cNvSpPr/>
          <p:nvPr/>
        </p:nvSpPr>
        <p:spPr>
          <a:xfrm>
            <a:off x="8089900" y="4648200"/>
            <a:ext cx="2616200"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7A7570"/>
                </a:solidFill>
                <a:latin typeface="Inter" pitchFamily="34" charset="0"/>
                <a:ea typeface="Inter" pitchFamily="34" charset="-122"/>
                <a:cs typeface="Inter" pitchFamily="34" charset="-120"/>
              </a:rPr>
              <a:t>What ARGUS shows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EDE4"/>
        </a:solidFill>
      </p:bgPr>
    </p:bg>
    <p:spTree>
      <p:nvGrpSpPr>
        <p:cNvPr id="1" name=""/>
        <p:cNvGrpSpPr/>
        <p:nvPr/>
      </p:nvGrpSpPr>
      <p:grpSpPr>
        <a:xfrm>
          <a:off x="0" y="0"/>
          <a:ext cx="0" cy="0"/>
          <a:chOff x="0" y="0"/>
          <a:chExt cx="0" cy="0"/>
        </a:xfrm>
      </p:grpSpPr>
      <p:sp>
        <p:nvSpPr>
          <p:cNvPr id="2" name="Text 0"/>
          <p:cNvSpPr/>
          <p:nvPr/>
        </p:nvSpPr>
        <p:spPr>
          <a:xfrm>
            <a:off x="1016000" y="2656830"/>
            <a:ext cx="3798600" cy="863600"/>
          </a:xfrm>
          <a:prstGeom prst="rect">
            <a:avLst/>
          </a:prstGeom>
          <a:noFill/>
          <a:ln/>
        </p:spPr>
        <p:txBody>
          <a:bodyPr wrap="square" lIns="0" tIns="0" rIns="0" bIns="0" rtlCol="0" anchor="t">
            <a:normAutofit/>
          </a:bodyPr>
          <a:lstStyle/>
          <a:p>
            <a:pPr algn="l" indent="0" marL="0">
              <a:lnSpc>
                <a:spcPts val="6600"/>
              </a:lnSpc>
              <a:buNone/>
            </a:pPr>
            <a:r>
              <a:rPr lang="en-US" sz="6000" dirty="0">
                <a:solidFill>
                  <a:srgbClr val="2B2B2B"/>
                </a:solidFill>
                <a:latin typeface="Fraunces" pitchFamily="34" charset="0"/>
                <a:ea typeface="Fraunces" pitchFamily="34" charset="-122"/>
                <a:cs typeface="Fraunces" pitchFamily="34" charset="-120"/>
              </a:rPr>
              <a:t>Live demo</a:t>
            </a:r>
            <a:endParaRPr lang="en-US" sz="6000" dirty="0"/>
          </a:p>
        </p:txBody>
      </p:sp>
      <p:sp>
        <p:nvSpPr>
          <p:cNvPr id="3" name="Text 1"/>
          <p:cNvSpPr/>
          <p:nvPr/>
        </p:nvSpPr>
        <p:spPr>
          <a:xfrm>
            <a:off x="1016000" y="3749030"/>
            <a:ext cx="5930701" cy="274290"/>
          </a:xfrm>
          <a:prstGeom prst="rect">
            <a:avLst/>
          </a:prstGeom>
          <a:noFill/>
          <a:ln/>
        </p:spPr>
        <p:txBody>
          <a:bodyPr wrap="square" lIns="0" tIns="0" rIns="0" bIns="0" rtlCol="0" anchor="t">
            <a:normAutofit/>
          </a:bodyPr>
          <a:lstStyle/>
          <a:p>
            <a:pPr algn="l" indent="0" marL="0">
              <a:lnSpc>
                <a:spcPts val="1960"/>
              </a:lnSpc>
              <a:buNone/>
            </a:pPr>
            <a:r>
              <a:rPr lang="en-US" sz="1400" spc="50" kern="0" dirty="0">
                <a:solidFill>
                  <a:srgbClr val="7A7570"/>
                </a:solidFill>
                <a:latin typeface="Inter" pitchFamily="34" charset="0"/>
                <a:ea typeface="Inter" pitchFamily="34" charset="-122"/>
                <a:cs typeface="Inter" pitchFamily="34" charset="-120"/>
              </a:rPr>
              <a:t>Kyushu 2026 → Aisin Kumamoto → Lakeshore Drivetrain Supply</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1016000" y="2921000"/>
            <a:ext cx="2159000" cy="1016000"/>
          </a:xfrm>
          <a:prstGeom prst="roundRect">
            <a:avLst>
              <a:gd name="adj" fmla="val 12500"/>
            </a:avLst>
          </a:prstGeom>
          <a:solidFill>
            <a:srgbClr val="A8BFA3"/>
          </a:solidFill>
          <a:ln/>
        </p:spPr>
      </p:sp>
      <p:sp>
        <p:nvSpPr>
          <p:cNvPr id="3" name="Text 1"/>
          <p:cNvSpPr/>
          <p:nvPr/>
        </p:nvSpPr>
        <p:spPr>
          <a:xfrm>
            <a:off x="1596330" y="3268960"/>
            <a:ext cx="998289" cy="345430"/>
          </a:xfrm>
          <a:prstGeom prst="rect">
            <a:avLst/>
          </a:prstGeom>
          <a:noFill/>
          <a:ln/>
        </p:spPr>
        <p:txBody>
          <a:bodyPr wrap="none" lIns="0" tIns="0" rIns="0" bIns="0" rtlCol="0" anchor="t">
            <a:normAutofit/>
          </a:bodyPr>
          <a:lstStyle/>
          <a:p>
            <a:pPr algn="ctr" indent="0" marL="0">
              <a:lnSpc>
                <a:spcPts val="2520"/>
              </a:lnSpc>
              <a:buNone/>
            </a:pPr>
            <a:r>
              <a:rPr lang="en-US" sz="1800" dirty="0">
                <a:solidFill>
                  <a:srgbClr val="2B2B2B"/>
                </a:solidFill>
                <a:latin typeface="Fraunces" pitchFamily="34" charset="0"/>
                <a:ea typeface="Fraunces" pitchFamily="34" charset="-122"/>
                <a:cs typeface="Fraunces" pitchFamily="34" charset="-120"/>
              </a:rPr>
              <a:t>AI reads.</a:t>
            </a:r>
            <a:endParaRPr lang="en-US" sz="1800" dirty="0"/>
          </a:p>
        </p:txBody>
      </p:sp>
      <p:sp>
        <p:nvSpPr>
          <p:cNvPr id="4" name="Shape 2"/>
          <p:cNvSpPr/>
          <p:nvPr/>
        </p:nvSpPr>
        <p:spPr>
          <a:xfrm>
            <a:off x="3683000" y="2921000"/>
            <a:ext cx="2159000" cy="1016000"/>
          </a:xfrm>
          <a:prstGeom prst="roundRect">
            <a:avLst>
              <a:gd name="adj" fmla="val 12500"/>
            </a:avLst>
          </a:prstGeom>
          <a:solidFill>
            <a:srgbClr val="9FB4C7"/>
          </a:solidFill>
          <a:ln/>
        </p:spPr>
      </p:sp>
      <p:sp>
        <p:nvSpPr>
          <p:cNvPr id="5" name="Text 3"/>
          <p:cNvSpPr/>
          <p:nvPr/>
        </p:nvSpPr>
        <p:spPr>
          <a:xfrm>
            <a:off x="4013200" y="3268960"/>
            <a:ext cx="1498600" cy="345430"/>
          </a:xfrm>
          <a:prstGeom prst="rect">
            <a:avLst/>
          </a:prstGeom>
          <a:noFill/>
          <a:ln/>
        </p:spPr>
        <p:txBody>
          <a:bodyPr wrap="none" lIns="0" tIns="0" rIns="0" bIns="0" rtlCol="0" anchor="t">
            <a:normAutofit/>
          </a:bodyPr>
          <a:lstStyle/>
          <a:p>
            <a:pPr algn="ctr" indent="0" marL="0">
              <a:lnSpc>
                <a:spcPts val="2520"/>
              </a:lnSpc>
              <a:buNone/>
            </a:pPr>
            <a:r>
              <a:rPr lang="en-US" sz="1800" dirty="0">
                <a:solidFill>
                  <a:srgbClr val="2B2B2B"/>
                </a:solidFill>
                <a:latin typeface="Fraunces" pitchFamily="34" charset="0"/>
                <a:ea typeface="Fraunces" pitchFamily="34" charset="-122"/>
                <a:cs typeface="Fraunces" pitchFamily="34" charset="-120"/>
              </a:rPr>
              <a:t>Code verifies.</a:t>
            </a:r>
            <a:endParaRPr lang="en-US" sz="1800" dirty="0"/>
          </a:p>
        </p:txBody>
      </p:sp>
      <p:sp>
        <p:nvSpPr>
          <p:cNvPr id="6" name="Shape 4"/>
          <p:cNvSpPr/>
          <p:nvPr/>
        </p:nvSpPr>
        <p:spPr>
          <a:xfrm>
            <a:off x="6350000" y="2921000"/>
            <a:ext cx="2159000" cy="1016000"/>
          </a:xfrm>
          <a:prstGeom prst="roundRect">
            <a:avLst>
              <a:gd name="adj" fmla="val 12500"/>
            </a:avLst>
          </a:prstGeom>
          <a:solidFill>
            <a:srgbClr val="E6D5B8"/>
          </a:solidFill>
          <a:ln/>
        </p:spPr>
      </p:sp>
      <p:sp>
        <p:nvSpPr>
          <p:cNvPr id="7" name="Text 5"/>
          <p:cNvSpPr/>
          <p:nvPr/>
        </p:nvSpPr>
        <p:spPr>
          <a:xfrm>
            <a:off x="6702475" y="3268960"/>
            <a:ext cx="1454001" cy="345430"/>
          </a:xfrm>
          <a:prstGeom prst="rect">
            <a:avLst/>
          </a:prstGeom>
          <a:noFill/>
          <a:ln/>
        </p:spPr>
        <p:txBody>
          <a:bodyPr wrap="none" lIns="0" tIns="0" rIns="0" bIns="0" rtlCol="0" anchor="t">
            <a:normAutofit/>
          </a:bodyPr>
          <a:lstStyle/>
          <a:p>
            <a:pPr algn="ctr" indent="0" marL="0">
              <a:lnSpc>
                <a:spcPts val="2520"/>
              </a:lnSpc>
              <a:buNone/>
            </a:pPr>
            <a:r>
              <a:rPr lang="en-US" sz="1800" dirty="0">
                <a:solidFill>
                  <a:srgbClr val="2B2B2B"/>
                </a:solidFill>
                <a:latin typeface="Fraunces" pitchFamily="34" charset="0"/>
                <a:ea typeface="Fraunces" pitchFamily="34" charset="-122"/>
                <a:cs typeface="Fraunces" pitchFamily="34" charset="-120"/>
              </a:rPr>
              <a:t>Rules decide.</a:t>
            </a:r>
            <a:endParaRPr lang="en-US" sz="1800" dirty="0"/>
          </a:p>
        </p:txBody>
      </p:sp>
      <p:sp>
        <p:nvSpPr>
          <p:cNvPr id="8" name="Shape 6"/>
          <p:cNvSpPr/>
          <p:nvPr/>
        </p:nvSpPr>
        <p:spPr>
          <a:xfrm>
            <a:off x="9017000" y="2921000"/>
            <a:ext cx="2159000" cy="1016000"/>
          </a:xfrm>
          <a:prstGeom prst="roundRect">
            <a:avLst>
              <a:gd name="adj" fmla="val 12500"/>
            </a:avLst>
          </a:prstGeom>
          <a:solidFill>
            <a:srgbClr val="A8BFA3"/>
          </a:solidFill>
          <a:ln/>
        </p:spPr>
      </p:sp>
      <p:sp>
        <p:nvSpPr>
          <p:cNvPr id="9" name="Text 7"/>
          <p:cNvSpPr/>
          <p:nvPr/>
        </p:nvSpPr>
        <p:spPr>
          <a:xfrm>
            <a:off x="9493300" y="3268960"/>
            <a:ext cx="1206401" cy="345430"/>
          </a:xfrm>
          <a:prstGeom prst="rect">
            <a:avLst/>
          </a:prstGeom>
          <a:noFill/>
          <a:ln/>
        </p:spPr>
        <p:txBody>
          <a:bodyPr wrap="none" lIns="0" tIns="0" rIns="0" bIns="0" rtlCol="0" anchor="t">
            <a:normAutofit/>
          </a:bodyPr>
          <a:lstStyle/>
          <a:p>
            <a:pPr algn="ctr" indent="0" marL="0">
              <a:lnSpc>
                <a:spcPts val="2520"/>
              </a:lnSpc>
              <a:buNone/>
            </a:pPr>
            <a:r>
              <a:rPr lang="en-US" sz="1800" dirty="0">
                <a:solidFill>
                  <a:srgbClr val="2B2B2B"/>
                </a:solidFill>
                <a:latin typeface="Fraunces" pitchFamily="34" charset="0"/>
                <a:ea typeface="Fraunces" pitchFamily="34" charset="-122"/>
                <a:cs typeface="Fraunces" pitchFamily="34" charset="-120"/>
              </a:rPr>
              <a:t>People act.</a:t>
            </a:r>
            <a:endParaRPr lang="en-US" sz="1800" dirty="0"/>
          </a:p>
        </p:txBody>
      </p:sp>
      <p:pic>
        <p:nvPicPr>
          <p:cNvPr id="10" name="Image 0" descr="connector">    </p:cNvPr>
          <p:cNvPicPr>
            <a:picLocks noChangeAspect="1"/>
          </p:cNvPicPr>
          <p:nvPr/>
        </p:nvPicPr>
        <p:blipFill>
          <a:blip r:embed="rId1"/>
          <a:srcRect l="0" r="0" t="0" b="0"/>
          <a:stretch/>
        </p:blipFill>
        <p:spPr>
          <a:xfrm>
            <a:off x="3213100" y="3390900"/>
            <a:ext cx="431800" cy="76200"/>
          </a:xfrm>
          <a:prstGeom prst="rect">
            <a:avLst/>
          </a:prstGeom>
        </p:spPr>
      </p:pic>
      <p:pic>
        <p:nvPicPr>
          <p:cNvPr id="11" name="Image 1" descr="connector">    </p:cNvPr>
          <p:cNvPicPr>
            <a:picLocks noChangeAspect="1"/>
          </p:cNvPicPr>
          <p:nvPr/>
        </p:nvPicPr>
        <p:blipFill>
          <a:blip r:embed="rId2"/>
          <a:srcRect l="0" r="0" t="0" b="0"/>
          <a:stretch/>
        </p:blipFill>
        <p:spPr>
          <a:xfrm>
            <a:off x="5880100" y="3390900"/>
            <a:ext cx="431800" cy="76200"/>
          </a:xfrm>
          <a:prstGeom prst="rect">
            <a:avLst/>
          </a:prstGeom>
        </p:spPr>
      </p:pic>
      <p:pic>
        <p:nvPicPr>
          <p:cNvPr id="12" name="Image 2" descr="connector">    </p:cNvPr>
          <p:cNvPicPr>
            <a:picLocks noChangeAspect="1"/>
          </p:cNvPicPr>
          <p:nvPr/>
        </p:nvPicPr>
        <p:blipFill>
          <a:blip r:embed="rId3"/>
          <a:srcRect l="0" r="0" t="0" b="0"/>
          <a:stretch/>
        </p:blipFill>
        <p:spPr>
          <a:xfrm>
            <a:off x="8547100" y="3390900"/>
            <a:ext cx="431800" cy="76200"/>
          </a:xfrm>
          <a:prstGeom prst="rect">
            <a:avLst/>
          </a:prstGeom>
        </p:spPr>
      </p:pic>
      <p:sp>
        <p:nvSpPr>
          <p:cNvPr id="13" name="Text 8"/>
          <p:cNvSpPr/>
          <p:nvPr/>
        </p:nvSpPr>
        <p:spPr>
          <a:xfrm>
            <a:off x="1016000" y="4318000"/>
            <a:ext cx="10464800" cy="274290"/>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7A7570"/>
                </a:solidFill>
                <a:latin typeface="Fraunces" pitchFamily="34" charset="0"/>
                <a:ea typeface="Fraunces" pitchFamily="34" charset="-122"/>
                <a:cs typeface="Fraunces" pitchFamily="34" charset="-120"/>
              </a:rPr>
              <a:t>The AI reads everything. It decides nothing.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016000" y="1016000"/>
            <a:ext cx="10464800" cy="107692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2B2B2B"/>
                </a:solidFill>
                <a:latin typeface="Fraunces" pitchFamily="34" charset="0"/>
                <a:ea typeface="Fraunces" pitchFamily="34" charset="-122"/>
                <a:cs typeface="Fraunces" pitchFamily="34" charset="-120"/>
              </a:rPr>
              <a:t>The bigger earthquake was the smaller problem.</a:t>
            </a:r>
            <a:endParaRPr lang="en-US" sz="3600" dirty="0"/>
          </a:p>
        </p:txBody>
      </p:sp>
      <p:sp>
        <p:nvSpPr>
          <p:cNvPr id="3" name="Shape 1"/>
          <p:cNvSpPr/>
          <p:nvPr/>
        </p:nvSpPr>
        <p:spPr>
          <a:xfrm>
            <a:off x="1019175" y="2680295"/>
            <a:ext cx="4870450" cy="2383681"/>
          </a:xfrm>
          <a:prstGeom prst="roundRect">
            <a:avLst>
              <a:gd name="adj" fmla="val 5195"/>
            </a:avLst>
          </a:prstGeom>
          <a:solidFill>
            <a:srgbClr val="FAF7F2"/>
          </a:solidFill>
          <a:ln w="6350">
            <a:solidFill>
              <a:srgbClr val="A8BFA3"/>
            </a:solidFill>
            <a:prstDash val="solid"/>
          </a:ln>
        </p:spPr>
      </p:sp>
      <p:sp>
        <p:nvSpPr>
          <p:cNvPr id="4" name="Text 2"/>
          <p:cNvSpPr/>
          <p:nvPr/>
        </p:nvSpPr>
        <p:spPr>
          <a:xfrm>
            <a:off x="1377950" y="3039070"/>
            <a:ext cx="1908957"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2B2B2B"/>
                </a:solidFill>
                <a:latin typeface="Fraunces" pitchFamily="34" charset="0"/>
                <a:ea typeface="Fraunces" pitchFamily="34" charset="-122"/>
                <a:cs typeface="Fraunces" pitchFamily="34" charset="-120"/>
              </a:rPr>
              <a:t>Taiwan 2024</a:t>
            </a:r>
            <a:endParaRPr lang="en-US" sz="2400" dirty="0"/>
          </a:p>
        </p:txBody>
      </p:sp>
      <p:sp>
        <p:nvSpPr>
          <p:cNvPr id="5" name="Text 3"/>
          <p:cNvSpPr/>
          <p:nvPr/>
        </p:nvSpPr>
        <p:spPr>
          <a:xfrm>
            <a:off x="1377950" y="3531791"/>
            <a:ext cx="51375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A7570"/>
                </a:solidFill>
                <a:latin typeface="Inter" pitchFamily="34" charset="0"/>
                <a:ea typeface="Inter" pitchFamily="34" charset="-122"/>
                <a:cs typeface="Inter" pitchFamily="34" charset="-120"/>
              </a:rPr>
              <a:t>M7.4</a:t>
            </a:r>
            <a:endParaRPr lang="en-US" sz="1600" dirty="0"/>
          </a:p>
        </p:txBody>
      </p:sp>
      <p:sp>
        <p:nvSpPr>
          <p:cNvPr id="6" name="Text 4"/>
          <p:cNvSpPr/>
          <p:nvPr/>
        </p:nvSpPr>
        <p:spPr>
          <a:xfrm>
            <a:off x="1377950" y="3943251"/>
            <a:ext cx="2232661"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B2B"/>
                </a:solidFill>
                <a:latin typeface="Inter" pitchFamily="34" charset="0"/>
                <a:ea typeface="Inter" pitchFamily="34" charset="-122"/>
                <a:cs typeface="Inter" pitchFamily="34" charset="-120"/>
              </a:rPr>
              <a:t>Recovered within days</a:t>
            </a:r>
            <a:endParaRPr lang="en-US" sz="1600" dirty="0"/>
          </a:p>
        </p:txBody>
      </p:sp>
      <p:sp>
        <p:nvSpPr>
          <p:cNvPr id="7" name="Shape 5"/>
          <p:cNvSpPr/>
          <p:nvPr/>
        </p:nvSpPr>
        <p:spPr>
          <a:xfrm>
            <a:off x="1377950" y="4354711"/>
            <a:ext cx="2233166" cy="350490"/>
          </a:xfrm>
          <a:prstGeom prst="roundRect">
            <a:avLst>
              <a:gd name="adj" fmla="val 50000"/>
            </a:avLst>
          </a:prstGeom>
          <a:solidFill>
            <a:srgbClr val="A8BFA3"/>
          </a:solidFill>
          <a:ln/>
        </p:spPr>
      </p:sp>
      <p:sp>
        <p:nvSpPr>
          <p:cNvPr id="8" name="Text 6"/>
          <p:cNvSpPr/>
          <p:nvPr/>
        </p:nvSpPr>
        <p:spPr>
          <a:xfrm>
            <a:off x="1555750" y="4430911"/>
            <a:ext cx="1933893" cy="223490"/>
          </a:xfrm>
          <a:prstGeom prst="rect">
            <a:avLst/>
          </a:prstGeom>
          <a:noFill/>
          <a:ln/>
        </p:spPr>
        <p:txBody>
          <a:bodyPr wrap="none" lIns="0" tIns="0" rIns="0" bIns="0" rtlCol="0" anchor="t">
            <a:normAutofit/>
          </a:bodyPr>
          <a:lstStyle/>
          <a:p>
            <a:pPr algn="l" indent="0" marL="0">
              <a:lnSpc>
                <a:spcPts val="1560"/>
              </a:lnSpc>
              <a:buNone/>
            </a:pPr>
            <a:r>
              <a:rPr lang="en-US" sz="1200" spc="100" kern="0" dirty="0">
                <a:solidFill>
                  <a:srgbClr val="2B2B2B"/>
                </a:solidFill>
                <a:latin typeface="Inter" pitchFamily="34" charset="0"/>
                <a:ea typeface="Inter" pitchFamily="34" charset="-122"/>
                <a:cs typeface="Inter" pitchFamily="34" charset="-120"/>
              </a:rPr>
              <a:t>ARGUS: STAND DOWN</a:t>
            </a:r>
            <a:endParaRPr lang="en-US" sz="1200" dirty="0"/>
          </a:p>
        </p:txBody>
      </p:sp>
      <p:sp>
        <p:nvSpPr>
          <p:cNvPr id="9" name="Shape 7"/>
          <p:cNvSpPr/>
          <p:nvPr/>
        </p:nvSpPr>
        <p:spPr>
          <a:xfrm>
            <a:off x="6302375" y="2680295"/>
            <a:ext cx="4870450" cy="2383681"/>
          </a:xfrm>
          <a:prstGeom prst="roundRect">
            <a:avLst>
              <a:gd name="adj" fmla="val 5195"/>
            </a:avLst>
          </a:prstGeom>
          <a:solidFill>
            <a:srgbClr val="FAF7F2"/>
          </a:solidFill>
          <a:ln w="6350">
            <a:solidFill>
              <a:srgbClr val="E3B7B2"/>
            </a:solidFill>
            <a:prstDash val="solid"/>
          </a:ln>
        </p:spPr>
      </p:sp>
      <p:sp>
        <p:nvSpPr>
          <p:cNvPr id="10" name="Text 8"/>
          <p:cNvSpPr/>
          <p:nvPr/>
        </p:nvSpPr>
        <p:spPr>
          <a:xfrm>
            <a:off x="6661150" y="3039070"/>
            <a:ext cx="1961384" cy="391120"/>
          </a:xfrm>
          <a:prstGeom prst="rect">
            <a:avLst/>
          </a:prstGeom>
          <a:noFill/>
          <a:ln/>
        </p:spPr>
        <p:txBody>
          <a:bodyPr wrap="square" lIns="0" tIns="0" rIns="0" bIns="0" rtlCol="0" anchor="t">
            <a:normAutofit/>
          </a:bodyPr>
          <a:lstStyle/>
          <a:p>
            <a:pPr algn="l" indent="0" marL="0">
              <a:lnSpc>
                <a:spcPts val="2880"/>
              </a:lnSpc>
              <a:buNone/>
            </a:pPr>
            <a:r>
              <a:rPr lang="en-US" sz="2400" dirty="0">
                <a:solidFill>
                  <a:srgbClr val="2B2B2B"/>
                </a:solidFill>
                <a:latin typeface="Fraunces" pitchFamily="34" charset="0"/>
                <a:ea typeface="Fraunces" pitchFamily="34" charset="-122"/>
                <a:cs typeface="Fraunces" pitchFamily="34" charset="-120"/>
              </a:rPr>
              <a:t>Kyushu 2026</a:t>
            </a:r>
            <a:endParaRPr lang="en-US" sz="2400" dirty="0"/>
          </a:p>
        </p:txBody>
      </p:sp>
      <p:sp>
        <p:nvSpPr>
          <p:cNvPr id="11" name="Text 9"/>
          <p:cNvSpPr/>
          <p:nvPr/>
        </p:nvSpPr>
        <p:spPr>
          <a:xfrm>
            <a:off x="6661150" y="3531791"/>
            <a:ext cx="53320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A7570"/>
                </a:solidFill>
                <a:latin typeface="Inter" pitchFamily="34" charset="0"/>
                <a:ea typeface="Inter" pitchFamily="34" charset="-122"/>
                <a:cs typeface="Inter" pitchFamily="34" charset="-120"/>
              </a:rPr>
              <a:t>M6.8</a:t>
            </a:r>
            <a:endParaRPr lang="en-US" sz="1600" dirty="0"/>
          </a:p>
        </p:txBody>
      </p:sp>
      <p:sp>
        <p:nvSpPr>
          <p:cNvPr id="12" name="Text 10"/>
          <p:cNvSpPr/>
          <p:nvPr/>
        </p:nvSpPr>
        <p:spPr>
          <a:xfrm>
            <a:off x="6661150" y="3943251"/>
            <a:ext cx="200047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2B2B2B"/>
                </a:solidFill>
                <a:latin typeface="Inter" pitchFamily="34" charset="0"/>
                <a:ea typeface="Inter" pitchFamily="34" charset="-122"/>
                <a:cs typeface="Inter" pitchFamily="34" charset="-120"/>
              </a:rPr>
              <a:t>Key suppliers halted</a:t>
            </a:r>
            <a:endParaRPr lang="en-US" sz="1600" dirty="0"/>
          </a:p>
        </p:txBody>
      </p:sp>
      <p:sp>
        <p:nvSpPr>
          <p:cNvPr id="13" name="Shape 11"/>
          <p:cNvSpPr/>
          <p:nvPr/>
        </p:nvSpPr>
        <p:spPr>
          <a:xfrm>
            <a:off x="6661150" y="4354711"/>
            <a:ext cx="1932236" cy="350490"/>
          </a:xfrm>
          <a:prstGeom prst="roundRect">
            <a:avLst>
              <a:gd name="adj" fmla="val 50000"/>
            </a:avLst>
          </a:prstGeom>
          <a:solidFill>
            <a:srgbClr val="E3B7B2"/>
          </a:solidFill>
          <a:ln/>
        </p:spPr>
      </p:sp>
      <p:sp>
        <p:nvSpPr>
          <p:cNvPr id="14" name="Text 12"/>
          <p:cNvSpPr/>
          <p:nvPr/>
        </p:nvSpPr>
        <p:spPr>
          <a:xfrm>
            <a:off x="6838950" y="4430911"/>
            <a:ext cx="1627436" cy="223490"/>
          </a:xfrm>
          <a:prstGeom prst="rect">
            <a:avLst/>
          </a:prstGeom>
          <a:noFill/>
          <a:ln/>
        </p:spPr>
        <p:txBody>
          <a:bodyPr wrap="none" lIns="0" tIns="0" rIns="0" bIns="0" rtlCol="0" anchor="t">
            <a:normAutofit/>
          </a:bodyPr>
          <a:lstStyle/>
          <a:p>
            <a:pPr algn="l" indent="0" marL="0">
              <a:lnSpc>
                <a:spcPts val="1560"/>
              </a:lnSpc>
              <a:buNone/>
            </a:pPr>
            <a:r>
              <a:rPr lang="en-US" sz="1200" spc="100" kern="0" dirty="0">
                <a:solidFill>
                  <a:srgbClr val="2B2B2B"/>
                </a:solidFill>
                <a:latin typeface="Inter" pitchFamily="34" charset="0"/>
                <a:ea typeface="Inter" pitchFamily="34" charset="-122"/>
                <a:cs typeface="Inter" pitchFamily="34" charset="-120"/>
              </a:rPr>
              <a:t>ARGUS: ESCALATE</a:t>
            </a:r>
            <a:endParaRPr lang="en-US" sz="1200" dirty="0"/>
          </a:p>
        </p:txBody>
      </p:sp>
      <p:sp>
        <p:nvSpPr>
          <p:cNvPr id="15" name="Text 13"/>
          <p:cNvSpPr/>
          <p:nvPr/>
        </p:nvSpPr>
        <p:spPr>
          <a:xfrm>
            <a:off x="1016000" y="6238280"/>
            <a:ext cx="7848600" cy="238720"/>
          </a:xfrm>
          <a:prstGeom prst="rect">
            <a:avLst/>
          </a:prstGeom>
          <a:noFill/>
          <a:ln/>
        </p:spPr>
        <p:txBody>
          <a:bodyPr wrap="square" lIns="0" tIns="0" rIns="0" bIns="0" rtlCol="0" anchor="t">
            <a:normAutofit/>
          </a:bodyPr>
          <a:lstStyle/>
          <a:p>
            <a:pPr algn="l" indent="0" marL="0">
              <a:lnSpc>
                <a:spcPts val="1680"/>
              </a:lnSpc>
              <a:buNone/>
            </a:pPr>
            <a:r>
              <a:rPr lang="en-US" sz="1200" i="1" dirty="0">
                <a:solidFill>
                  <a:srgbClr val="7A7570"/>
                </a:solidFill>
                <a:latin typeface="Fraunces" pitchFamily="34" charset="0"/>
                <a:ea typeface="Fraunces" pitchFamily="34" charset="-122"/>
                <a:cs typeface="Fraunces" pitchFamily="34" charset="-120"/>
              </a:rPr>
              <a:t>Magnitude measures the event. ARGUS measures the exposure.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7F2"/>
        </a:solidFill>
      </p:bgPr>
    </p:bg>
    <p:spTree>
      <p:nvGrpSpPr>
        <p:cNvPr id="1" name=""/>
        <p:cNvGrpSpPr/>
        <p:nvPr/>
      </p:nvGrpSpPr>
      <p:grpSpPr>
        <a:xfrm>
          <a:off x="0" y="0"/>
          <a:ext cx="0" cy="0"/>
          <a:chOff x="0" y="0"/>
          <a:chExt cx="0" cy="0"/>
        </a:xfrm>
      </p:grpSpPr>
      <p:sp>
        <p:nvSpPr>
          <p:cNvPr id="2" name="Text 0"/>
          <p:cNvSpPr/>
          <p:nvPr/>
        </p:nvSpPr>
        <p:spPr>
          <a:xfrm>
            <a:off x="1016000" y="1016000"/>
            <a:ext cx="10464800" cy="551160"/>
          </a:xfrm>
          <a:prstGeom prst="rect">
            <a:avLst/>
          </a:prstGeom>
          <a:noFill/>
          <a:ln/>
        </p:spPr>
        <p:txBody>
          <a:bodyPr wrap="square" lIns="0" tIns="0" rIns="0" bIns="0" rtlCol="0" anchor="t">
            <a:normAutofit/>
          </a:bodyPr>
          <a:lstStyle/>
          <a:p>
            <a:pPr algn="l" indent="0" marL="0">
              <a:lnSpc>
                <a:spcPts val="4140"/>
              </a:lnSpc>
              <a:buNone/>
            </a:pPr>
            <a:r>
              <a:rPr lang="en-US" sz="3600" dirty="0">
                <a:solidFill>
                  <a:srgbClr val="2B2B2B"/>
                </a:solidFill>
                <a:latin typeface="Fraunces" pitchFamily="34" charset="0"/>
                <a:ea typeface="Fraunces" pitchFamily="34" charset="-122"/>
                <a:cs typeface="Fraunces" pitchFamily="34" charset="-120"/>
              </a:rPr>
              <a:t>Built for Chubb’s major accounts.</a:t>
            </a:r>
            <a:endParaRPr lang="en-US" sz="3600" dirty="0"/>
          </a:p>
        </p:txBody>
      </p:sp>
      <p:sp>
        <p:nvSpPr>
          <p:cNvPr id="3" name="Shape 1"/>
          <p:cNvSpPr/>
          <p:nvPr/>
        </p:nvSpPr>
        <p:spPr>
          <a:xfrm>
            <a:off x="1016000" y="2154535"/>
            <a:ext cx="8255000" cy="0"/>
          </a:xfrm>
          <a:prstGeom prst="line">
            <a:avLst/>
          </a:prstGeom>
          <a:noFill/>
          <a:ln w="6350">
            <a:solidFill>
              <a:srgbClr val="A8BFA3"/>
            </a:solidFill>
            <a:prstDash val="solid"/>
          </a:ln>
        </p:spPr>
      </p:sp>
      <p:sp>
        <p:nvSpPr>
          <p:cNvPr id="4" name="Text 2"/>
          <p:cNvSpPr/>
          <p:nvPr/>
        </p:nvSpPr>
        <p:spPr>
          <a:xfrm>
            <a:off x="1016000" y="2440285"/>
            <a:ext cx="431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7570"/>
                </a:solidFill>
                <a:latin typeface="Fraunces" pitchFamily="34" charset="0"/>
                <a:ea typeface="Fraunces" pitchFamily="34" charset="-122"/>
                <a:cs typeface="Fraunces" pitchFamily="34" charset="-120"/>
              </a:rPr>
              <a:t>01</a:t>
            </a:r>
            <a:endParaRPr lang="en-US" sz="1400" dirty="0"/>
          </a:p>
        </p:txBody>
      </p:sp>
      <p:sp>
        <p:nvSpPr>
          <p:cNvPr id="5" name="Text 3"/>
          <p:cNvSpPr/>
          <p:nvPr/>
        </p:nvSpPr>
        <p:spPr>
          <a:xfrm>
            <a:off x="1701800" y="2386310"/>
            <a:ext cx="4985445"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B2B2B"/>
                </a:solidFill>
                <a:latin typeface="Inter" pitchFamily="34" charset="0"/>
                <a:ea typeface="Inter" pitchFamily="34" charset="-122"/>
                <a:cs typeface="Inter" pitchFamily="34" charset="-120"/>
              </a:rPr>
              <a:t>See exposure a catastrophe map can’t show.</a:t>
            </a:r>
            <a:endParaRPr lang="en-US" sz="1800" dirty="0"/>
          </a:p>
        </p:txBody>
      </p:sp>
      <p:sp>
        <p:nvSpPr>
          <p:cNvPr id="6" name="Shape 4"/>
          <p:cNvSpPr/>
          <p:nvPr/>
        </p:nvSpPr>
        <p:spPr>
          <a:xfrm>
            <a:off x="1016000" y="2938115"/>
            <a:ext cx="8255000" cy="0"/>
          </a:xfrm>
          <a:prstGeom prst="line">
            <a:avLst/>
          </a:prstGeom>
          <a:noFill/>
          <a:ln w="6350">
            <a:solidFill>
              <a:srgbClr val="9FB4C7"/>
            </a:solidFill>
            <a:prstDash val="solid"/>
          </a:ln>
        </p:spPr>
      </p:sp>
      <p:sp>
        <p:nvSpPr>
          <p:cNvPr id="7" name="Text 5"/>
          <p:cNvSpPr/>
          <p:nvPr/>
        </p:nvSpPr>
        <p:spPr>
          <a:xfrm>
            <a:off x="1016000" y="3223865"/>
            <a:ext cx="431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7570"/>
                </a:solidFill>
                <a:latin typeface="Fraunces" pitchFamily="34" charset="0"/>
                <a:ea typeface="Fraunces" pitchFamily="34" charset="-122"/>
                <a:cs typeface="Fraunces" pitchFamily="34" charset="-120"/>
              </a:rPr>
              <a:t>02</a:t>
            </a:r>
            <a:endParaRPr lang="en-US" sz="1400" dirty="0"/>
          </a:p>
        </p:txBody>
      </p:sp>
      <p:sp>
        <p:nvSpPr>
          <p:cNvPr id="8" name="Text 6"/>
          <p:cNvSpPr/>
          <p:nvPr/>
        </p:nvSpPr>
        <p:spPr>
          <a:xfrm>
            <a:off x="1701800" y="3169890"/>
            <a:ext cx="4469461"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B2B2B"/>
                </a:solidFill>
                <a:latin typeface="Inter" pitchFamily="34" charset="0"/>
                <a:ea typeface="Inter" pitchFamily="34" charset="-122"/>
                <a:cs typeface="Inter" pitchFamily="34" charset="-120"/>
              </a:rPr>
              <a:t>Every alert backed by verified evidence.</a:t>
            </a:r>
            <a:endParaRPr lang="en-US" sz="1800" dirty="0"/>
          </a:p>
        </p:txBody>
      </p:sp>
      <p:sp>
        <p:nvSpPr>
          <p:cNvPr id="9" name="Shape 7"/>
          <p:cNvSpPr/>
          <p:nvPr/>
        </p:nvSpPr>
        <p:spPr>
          <a:xfrm>
            <a:off x="1016000" y="3721695"/>
            <a:ext cx="8255000" cy="0"/>
          </a:xfrm>
          <a:prstGeom prst="line">
            <a:avLst/>
          </a:prstGeom>
          <a:noFill/>
          <a:ln w="6350">
            <a:solidFill>
              <a:srgbClr val="E6D5B8"/>
            </a:solidFill>
            <a:prstDash val="solid"/>
          </a:ln>
        </p:spPr>
      </p:sp>
      <p:sp>
        <p:nvSpPr>
          <p:cNvPr id="10" name="Shape 8"/>
          <p:cNvSpPr/>
          <p:nvPr/>
        </p:nvSpPr>
        <p:spPr>
          <a:xfrm>
            <a:off x="1016000" y="4505275"/>
            <a:ext cx="8255000" cy="0"/>
          </a:xfrm>
          <a:prstGeom prst="line">
            <a:avLst/>
          </a:prstGeom>
          <a:noFill/>
          <a:ln w="6350">
            <a:solidFill>
              <a:srgbClr val="E6D5B8"/>
            </a:solidFill>
            <a:prstDash val="solid"/>
          </a:ln>
        </p:spPr>
      </p:sp>
      <p:sp>
        <p:nvSpPr>
          <p:cNvPr id="11" name="Text 9"/>
          <p:cNvSpPr/>
          <p:nvPr/>
        </p:nvSpPr>
        <p:spPr>
          <a:xfrm>
            <a:off x="1016000" y="4007445"/>
            <a:ext cx="43180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7A7570"/>
                </a:solidFill>
                <a:latin typeface="Fraunces" pitchFamily="34" charset="0"/>
                <a:ea typeface="Fraunces" pitchFamily="34" charset="-122"/>
                <a:cs typeface="Fraunces" pitchFamily="34" charset="-120"/>
              </a:rPr>
              <a:t>03</a:t>
            </a:r>
            <a:endParaRPr lang="en-US" sz="1400" dirty="0"/>
          </a:p>
        </p:txBody>
      </p:sp>
      <p:sp>
        <p:nvSpPr>
          <p:cNvPr id="12" name="Text 10"/>
          <p:cNvSpPr/>
          <p:nvPr/>
        </p:nvSpPr>
        <p:spPr>
          <a:xfrm>
            <a:off x="1701800" y="3953470"/>
            <a:ext cx="5385795"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2B2B2B"/>
                </a:solidFill>
                <a:latin typeface="Inter" pitchFamily="34" charset="0"/>
                <a:ea typeface="Inter" pitchFamily="34" charset="-122"/>
                <a:cs typeface="Inter" pitchFamily="34" charset="-120"/>
              </a:rPr>
              <a:t>Unknown stays unknown. People stay in charge.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EDE4"/>
        </a:solidFill>
      </p:bgPr>
    </p:bg>
    <p:spTree>
      <p:nvGrpSpPr>
        <p:cNvPr id="1" name=""/>
        <p:cNvGrpSpPr/>
        <p:nvPr/>
      </p:nvGrpSpPr>
      <p:grpSpPr>
        <a:xfrm>
          <a:off x="0" y="0"/>
          <a:ext cx="0" cy="0"/>
          <a:chOff x="0" y="0"/>
          <a:chExt cx="0" cy="0"/>
        </a:xfrm>
      </p:grpSpPr>
      <p:sp>
        <p:nvSpPr>
          <p:cNvPr id="2" name="Text 0"/>
          <p:cNvSpPr/>
          <p:nvPr/>
        </p:nvSpPr>
        <p:spPr>
          <a:xfrm>
            <a:off x="1016000" y="2269480"/>
            <a:ext cx="5492487" cy="1041400"/>
          </a:xfrm>
          <a:prstGeom prst="rect">
            <a:avLst/>
          </a:prstGeom>
          <a:noFill/>
          <a:ln/>
        </p:spPr>
        <p:txBody>
          <a:bodyPr wrap="square" lIns="0" tIns="0" rIns="0" bIns="0" rtlCol="0" anchor="t">
            <a:normAutofit/>
          </a:bodyPr>
          <a:lstStyle/>
          <a:p>
            <a:pPr algn="l" indent="0" marL="0">
              <a:lnSpc>
                <a:spcPts val="8000"/>
              </a:lnSpc>
              <a:buNone/>
            </a:pPr>
            <a:r>
              <a:rPr lang="en-US" sz="8000" dirty="0">
                <a:solidFill>
                  <a:srgbClr val="2B2B2B"/>
                </a:solidFill>
                <a:latin typeface="Fraunces" pitchFamily="34" charset="0"/>
                <a:ea typeface="Fraunces" pitchFamily="34" charset="-122"/>
                <a:cs typeface="Fraunces" pitchFamily="34" charset="-120"/>
              </a:rPr>
              <a:t>Thank you.</a:t>
            </a:r>
            <a:endParaRPr lang="en-US" sz="8000" dirty="0"/>
          </a:p>
        </p:txBody>
      </p:sp>
      <p:pic>
        <p:nvPicPr>
          <p:cNvPr id="3" name="Image 0" descr="line">    </p:cNvPr>
          <p:cNvPicPr>
            <a:picLocks noChangeAspect="1"/>
          </p:cNvPicPr>
          <p:nvPr/>
        </p:nvPicPr>
        <p:blipFill>
          <a:blip r:embed="rId1"/>
          <a:srcRect l="0" r="0" t="0" b="0"/>
          <a:stretch/>
        </p:blipFill>
        <p:spPr>
          <a:xfrm>
            <a:off x="1016000" y="3641080"/>
            <a:ext cx="1016000" cy="25400"/>
          </a:xfrm>
          <a:prstGeom prst="rect">
            <a:avLst/>
          </a:prstGeom>
        </p:spPr>
      </p:pic>
      <p:sp>
        <p:nvSpPr>
          <p:cNvPr id="4" name="Text 1"/>
          <p:cNvSpPr/>
          <p:nvPr/>
        </p:nvSpPr>
        <p:spPr>
          <a:xfrm>
            <a:off x="1016000" y="4022080"/>
            <a:ext cx="2504960" cy="388590"/>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7A7570"/>
                </a:solidFill>
                <a:latin typeface="Fraunces" pitchFamily="34" charset="0"/>
                <a:ea typeface="Fraunces" pitchFamily="34" charset="-122"/>
                <a:cs typeface="Fraunces" pitchFamily="34" charset="-120"/>
              </a:rPr>
              <a:t>Questions welcome.</a:t>
            </a:r>
            <a:endParaRPr lang="en-US" sz="2200" dirty="0"/>
          </a:p>
        </p:txBody>
      </p:sp>
      <p:sp>
        <p:nvSpPr>
          <p:cNvPr id="5" name="Text 2"/>
          <p:cNvSpPr/>
          <p:nvPr/>
        </p:nvSpPr>
        <p:spPr>
          <a:xfrm>
            <a:off x="1016000" y="6238280"/>
            <a:ext cx="6540500" cy="238720"/>
          </a:xfrm>
          <a:prstGeom prst="rect">
            <a:avLst/>
          </a:prstGeom>
          <a:noFill/>
          <a:ln/>
        </p:spPr>
        <p:txBody>
          <a:bodyPr wrap="square" lIns="0" tIns="0" rIns="0" bIns="0" rtlCol="0" anchor="t">
            <a:normAutofit/>
          </a:bodyPr>
          <a:lstStyle/>
          <a:p>
            <a:pPr algn="l" indent="0" marL="0">
              <a:lnSpc>
                <a:spcPts val="1680"/>
              </a:lnSpc>
              <a:buNone/>
            </a:pPr>
            <a:r>
              <a:rPr lang="en-US" sz="1200" spc="50" kern="0" dirty="0">
                <a:solidFill>
                  <a:srgbClr val="7A7570"/>
                </a:solidFill>
                <a:latin typeface="Inter" pitchFamily="34" charset="0"/>
                <a:ea typeface="Inter" pitchFamily="34" charset="-122"/>
                <a:cs typeface="Inter" pitchFamily="34" charset="-120"/>
              </a:rPr>
              <a:t>ARGUS · Stevens Business + AI Hackathon · September 2026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ARGUS</dc:title>
  <dc:subject>PptxGenJS Presentation</dc:subject>
  <dc:creator>PptxGenJS</dc:creator>
  <cp:lastModifiedBy>PptxGenJS</cp:lastModifiedBy>
  <cp:revision>1</cp:revision>
  <dcterms:created xsi:type="dcterms:W3CDTF">2026-09-25T18:54:27Z</dcterms:created>
  <dcterms:modified xsi:type="dcterms:W3CDTF">2026-09-25T18:54:27Z</dcterms:modified>
</cp:coreProperties>
</file>